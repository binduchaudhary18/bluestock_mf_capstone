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G Jory Bold" charset="1" panose="02000000000000000000"/>
      <p:regular r:id="rId19"/>
    </p:embeddedFont>
    <p:embeddedFont>
      <p:font typeface="DG Jory" charset="1" panose="02000000000000000000"/>
      <p:regular r:id="rId20"/>
    </p:embeddedFont>
    <p:embeddedFont>
      <p:font typeface="League Spartan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368178" y="5133975"/>
            <a:ext cx="1193413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End-to-End Mutual Fund Analytics, Risk Assessment &amp; Dashboard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41804" y="8775675"/>
            <a:ext cx="6204392" cy="4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Submitted By : Bindu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2397" y="1943100"/>
            <a:ext cx="1132767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3"/>
              </a:lnSpc>
            </a:pPr>
            <a:r>
              <a:rPr lang="en-US" sz="70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BLUESTOCK MUTUAL FUND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593328" y="297057"/>
            <a:ext cx="7101344" cy="1773322"/>
            <a:chOff x="0" y="0"/>
            <a:chExt cx="325489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4892" cy="812800"/>
            </a:xfrm>
            <a:custGeom>
              <a:avLst/>
              <a:gdLst/>
              <a:ahLst/>
              <a:cxnLst/>
              <a:rect r="r" b="b" t="t" l="l"/>
              <a:pathLst>
                <a:path h="812800" w="3254892">
                  <a:moveTo>
                    <a:pt x="325489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254892" y="624840"/>
                  </a:lnTo>
                  <a:lnTo>
                    <a:pt x="3254892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254893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87895" y="484022"/>
            <a:ext cx="7215493" cy="1781624"/>
            <a:chOff x="0" y="0"/>
            <a:chExt cx="329180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01" cy="812800"/>
            </a:xfrm>
            <a:custGeom>
              <a:avLst/>
              <a:gdLst/>
              <a:ahLst/>
              <a:cxnLst/>
              <a:rect r="r" b="b" t="t" l="l"/>
              <a:pathLst>
                <a:path h="812800" w="3291801">
                  <a:moveTo>
                    <a:pt x="329180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291801" y="624840"/>
                  </a:lnTo>
                  <a:lnTo>
                    <a:pt x="3291801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29180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61005" y="5485841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3"/>
                </a:lnTo>
                <a:lnTo>
                  <a:pt x="0" y="458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03450" y="2324554"/>
            <a:ext cx="13601203" cy="2258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5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Goal :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Build a complete analytics platform for mutual fund performance, investor behavior, risk assessment, and business intelligence reporting.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787895" y="809411"/>
            <a:ext cx="7215493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89697" y="4526620"/>
            <a:ext cx="3384113" cy="65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Key Deliverables: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61005" y="6029979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3"/>
                </a:lnTo>
                <a:lnTo>
                  <a:pt x="0" y="458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61005" y="6572919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4"/>
                </a:lnTo>
                <a:lnTo>
                  <a:pt x="0" y="45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61005" y="7115860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3"/>
                </a:lnTo>
                <a:lnTo>
                  <a:pt x="0" y="458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361005" y="7659998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3"/>
                </a:lnTo>
                <a:lnTo>
                  <a:pt x="0" y="458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361005" y="8204136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4"/>
                </a:lnTo>
                <a:lnTo>
                  <a:pt x="0" y="45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361005" y="8799887"/>
            <a:ext cx="728692" cy="458413"/>
          </a:xfrm>
          <a:custGeom>
            <a:avLst/>
            <a:gdLst/>
            <a:ahLst/>
            <a:cxnLst/>
            <a:rect r="r" b="b" t="t" l="l"/>
            <a:pathLst>
              <a:path h="458413" w="728692">
                <a:moveTo>
                  <a:pt x="0" y="0"/>
                </a:moveTo>
                <a:lnTo>
                  <a:pt x="728692" y="0"/>
                </a:lnTo>
                <a:lnTo>
                  <a:pt x="728692" y="458413"/>
                </a:lnTo>
                <a:lnTo>
                  <a:pt x="0" y="458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403450" y="5413342"/>
            <a:ext cx="2055495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ETL Pipeline</a:t>
            </a: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03450" y="5963304"/>
            <a:ext cx="3917513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SQLite Data Warehouse</a:t>
            </a: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03450" y="6506244"/>
            <a:ext cx="4133493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Exploratory Data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03450" y="7056207"/>
            <a:ext cx="3663553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Performance Analytics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03450" y="7606169"/>
            <a:ext cx="2243971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Risk Analytics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03450" y="8162925"/>
            <a:ext cx="3965138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Recommendation Engine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03450" y="8733212"/>
            <a:ext cx="3240405" cy="5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464632" y="-1064697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59" y="8409825"/>
                </a:moveTo>
                <a:lnTo>
                  <a:pt x="0" y="8409825"/>
                </a:lnTo>
                <a:lnTo>
                  <a:pt x="0" y="0"/>
                </a:lnTo>
                <a:lnTo>
                  <a:pt x="9287959" y="0"/>
                </a:lnTo>
                <a:lnTo>
                  <a:pt x="9287959" y="84098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63712" y="142039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3700" y="294052"/>
            <a:ext cx="5963891" cy="1764378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741984" y="2058430"/>
          <a:ext cx="7688636" cy="7715250"/>
        </p:xfrm>
        <a:graphic>
          <a:graphicData uri="http://schemas.openxmlformats.org/drawingml/2006/table">
            <a:tbl>
              <a:tblPr/>
              <a:tblGrid>
                <a:gridCol w="3889162"/>
                <a:gridCol w="3799473"/>
              </a:tblGrid>
              <a:tr h="9276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3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3D0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  <a:tr h="8484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AE9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411270" y="654393"/>
            <a:ext cx="6027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28946" y="2156152"/>
            <a:ext cx="121670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57836" y="2156152"/>
            <a:ext cx="125515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Purpose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07656" y="3073541"/>
            <a:ext cx="185928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Fund Master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5518" y="3990481"/>
            <a:ext cx="178355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NAV History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5518" y="4856480"/>
            <a:ext cx="151292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AUM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7656" y="5629035"/>
            <a:ext cx="169723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SIP Inflows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5850" y="6545975"/>
            <a:ext cx="258984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Category Inflows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5850" y="7415291"/>
            <a:ext cx="3322439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Investor Transactions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65850" y="8230877"/>
            <a:ext cx="260211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Portfolio Holdings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5850" y="9147818"/>
            <a:ext cx="284738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Benchmark Indices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44310" y="3073541"/>
            <a:ext cx="2727722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Scheme metadata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4310" y="3990481"/>
            <a:ext cx="242697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Historical Prices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44310" y="4735972"/>
            <a:ext cx="202358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Asset Growth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04806" y="5652913"/>
            <a:ext cx="1702594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SIP Trends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19366" y="6545975"/>
            <a:ext cx="2777609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Category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49668" y="7415291"/>
            <a:ext cx="271700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Investor Analytics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11521" y="8284607"/>
            <a:ext cx="253269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Sector Allocation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35509" y="9147818"/>
            <a:ext cx="3554968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Benchmark Comparison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83791" y="3957078"/>
            <a:ext cx="5994124" cy="2875917"/>
            <a:chOff x="0" y="0"/>
            <a:chExt cx="2747400" cy="13181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7400" cy="1318173"/>
            </a:xfrm>
            <a:custGeom>
              <a:avLst/>
              <a:gdLst/>
              <a:ahLst/>
              <a:cxnLst/>
              <a:rect r="r" b="b" t="t" l="l"/>
              <a:pathLst>
                <a:path h="1318173" w="2747400">
                  <a:moveTo>
                    <a:pt x="2747400" y="0"/>
                  </a:moveTo>
                  <a:lnTo>
                    <a:pt x="0" y="0"/>
                  </a:lnTo>
                  <a:lnTo>
                    <a:pt x="0" y="1130213"/>
                  </a:lnTo>
                  <a:lnTo>
                    <a:pt x="157480" y="1130213"/>
                  </a:lnTo>
                  <a:lnTo>
                    <a:pt x="157480" y="1318173"/>
                  </a:lnTo>
                  <a:lnTo>
                    <a:pt x="463550" y="1130213"/>
                  </a:lnTo>
                  <a:lnTo>
                    <a:pt x="2747400" y="1130213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747400" cy="1175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967896" y="4072714"/>
            <a:ext cx="602774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7"/>
              </a:lnSpc>
            </a:pPr>
            <a:r>
              <a:rPr lang="en-US" sz="27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STATISTICS 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07914" y="4636134"/>
            <a:ext cx="4648795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40 schemes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2022 - 2026 period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Thousands  of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4580" y="3617553"/>
            <a:ext cx="5303996" cy="3512125"/>
            <a:chOff x="0" y="0"/>
            <a:chExt cx="1396937" cy="9250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937" cy="925004"/>
            </a:xfrm>
            <a:custGeom>
              <a:avLst/>
              <a:gdLst/>
              <a:ahLst/>
              <a:cxnLst/>
              <a:rect r="r" b="b" t="t" l="l"/>
              <a:pathLst>
                <a:path h="925004" w="1396937">
                  <a:moveTo>
                    <a:pt x="0" y="0"/>
                  </a:moveTo>
                  <a:lnTo>
                    <a:pt x="1396937" y="0"/>
                  </a:lnTo>
                  <a:lnTo>
                    <a:pt x="1396937" y="925004"/>
                  </a:lnTo>
                  <a:lnTo>
                    <a:pt x="0" y="925004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96937" cy="972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47602" y="3617553"/>
            <a:ext cx="5303996" cy="3512125"/>
            <a:chOff x="0" y="0"/>
            <a:chExt cx="1396937" cy="9250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6937" cy="925004"/>
            </a:xfrm>
            <a:custGeom>
              <a:avLst/>
              <a:gdLst/>
              <a:ahLst/>
              <a:cxnLst/>
              <a:rect r="r" b="b" t="t" l="l"/>
              <a:pathLst>
                <a:path h="925004" w="1396937">
                  <a:moveTo>
                    <a:pt x="0" y="0"/>
                  </a:moveTo>
                  <a:lnTo>
                    <a:pt x="1396937" y="0"/>
                  </a:lnTo>
                  <a:lnTo>
                    <a:pt x="1396937" y="925004"/>
                  </a:lnTo>
                  <a:lnTo>
                    <a:pt x="0" y="925004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96937" cy="972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5126492" y="4057063"/>
            <a:ext cx="2848535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23700" y="4057063"/>
            <a:ext cx="2848535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7343" y="4654116"/>
            <a:ext cx="4326834" cy="109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fund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84550" y="4654116"/>
            <a:ext cx="4326834" cy="21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nav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transactions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performance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aum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29576" y="297057"/>
            <a:ext cx="9581809" cy="1773322"/>
            <a:chOff x="0" y="0"/>
            <a:chExt cx="4391811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91811" cy="812800"/>
            </a:xfrm>
            <a:custGeom>
              <a:avLst/>
              <a:gdLst/>
              <a:ahLst/>
              <a:cxnLst/>
              <a:rect r="r" b="b" t="t" l="l"/>
              <a:pathLst>
                <a:path h="812800" w="4391811">
                  <a:moveTo>
                    <a:pt x="439181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391811" y="624840"/>
                  </a:lnTo>
                  <a:lnTo>
                    <a:pt x="439181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39181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94358" y="562520"/>
            <a:ext cx="9313575" cy="1773322"/>
            <a:chOff x="0" y="0"/>
            <a:chExt cx="4268866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68866" cy="812800"/>
            </a:xfrm>
            <a:custGeom>
              <a:avLst/>
              <a:gdLst/>
              <a:ahLst/>
              <a:cxnLst/>
              <a:rect r="r" b="b" t="t" l="l"/>
              <a:pathLst>
                <a:path h="812800" w="4268866">
                  <a:moveTo>
                    <a:pt x="4268866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268866" y="624840"/>
                  </a:lnTo>
                  <a:lnTo>
                    <a:pt x="4268866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26886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700303" y="809411"/>
            <a:ext cx="8222056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ETL &amp; DATABASE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6130126" y="142039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26113" y="297057"/>
            <a:ext cx="5994124" cy="1773322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81136" y="2238946"/>
            <a:ext cx="12074816" cy="4036150"/>
          </a:xfrm>
          <a:custGeom>
            <a:avLst/>
            <a:gdLst/>
            <a:ahLst/>
            <a:cxnLst/>
            <a:rect r="r" b="b" t="t" l="l"/>
            <a:pathLst>
              <a:path h="4036150" w="12074816">
                <a:moveTo>
                  <a:pt x="0" y="0"/>
                </a:moveTo>
                <a:lnTo>
                  <a:pt x="12074817" y="0"/>
                </a:lnTo>
                <a:lnTo>
                  <a:pt x="12074817" y="4036150"/>
                </a:lnTo>
                <a:lnTo>
                  <a:pt x="0" y="4036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88241" y="6029979"/>
            <a:ext cx="12111517" cy="3992808"/>
          </a:xfrm>
          <a:custGeom>
            <a:avLst/>
            <a:gdLst/>
            <a:ahLst/>
            <a:cxnLst/>
            <a:rect r="r" b="b" t="t" l="l"/>
            <a:pathLst>
              <a:path h="3992808" w="12111517">
                <a:moveTo>
                  <a:pt x="0" y="0"/>
                </a:moveTo>
                <a:lnTo>
                  <a:pt x="12111518" y="0"/>
                </a:lnTo>
                <a:lnTo>
                  <a:pt x="12111518" y="3992808"/>
                </a:lnTo>
                <a:lnTo>
                  <a:pt x="0" y="3992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07933" y="6029979"/>
            <a:ext cx="3652351" cy="2576568"/>
          </a:xfrm>
          <a:custGeom>
            <a:avLst/>
            <a:gdLst/>
            <a:ahLst/>
            <a:cxnLst/>
            <a:rect r="r" b="b" t="t" l="l"/>
            <a:pathLst>
              <a:path h="2576568" w="3652351">
                <a:moveTo>
                  <a:pt x="0" y="0"/>
                </a:moveTo>
                <a:lnTo>
                  <a:pt x="3652352" y="0"/>
                </a:lnTo>
                <a:lnTo>
                  <a:pt x="3652352" y="2576568"/>
                </a:lnTo>
                <a:lnTo>
                  <a:pt x="0" y="257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04671" y="550581"/>
            <a:ext cx="6027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 HIGHLIGHTS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99759" y="6656782"/>
            <a:ext cx="2154245" cy="126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  <a:spcBef>
                <a:spcPct val="0"/>
              </a:spcBef>
            </a:pPr>
            <a:r>
              <a:rPr lang="en-US" sz="2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SIP inflows reached record highs.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784939" y="-1506883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59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59" y="0"/>
                </a:lnTo>
                <a:lnTo>
                  <a:pt x="9287959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357293" y="360461"/>
            <a:ext cx="8107907" cy="1773322"/>
            <a:chOff x="0" y="0"/>
            <a:chExt cx="371625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16250" cy="812800"/>
            </a:xfrm>
            <a:custGeom>
              <a:avLst/>
              <a:gdLst/>
              <a:ahLst/>
              <a:cxnLst/>
              <a:rect r="r" b="b" t="t" l="l"/>
              <a:pathLst>
                <a:path h="812800" w="3716250">
                  <a:moveTo>
                    <a:pt x="371625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716250" y="624840"/>
                  </a:lnTo>
                  <a:lnTo>
                    <a:pt x="371625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1625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0921" y="575860"/>
            <a:ext cx="8087776" cy="1773322"/>
            <a:chOff x="0" y="0"/>
            <a:chExt cx="370702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7023" cy="812800"/>
            </a:xfrm>
            <a:custGeom>
              <a:avLst/>
              <a:gdLst/>
              <a:ahLst/>
              <a:cxnLst/>
              <a:rect r="r" b="b" t="t" l="l"/>
              <a:pathLst>
                <a:path h="812800" w="3707023">
                  <a:moveTo>
                    <a:pt x="370702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707023" y="624840"/>
                  </a:lnTo>
                  <a:lnTo>
                    <a:pt x="3707023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707023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15244" y="2510558"/>
            <a:ext cx="4349565" cy="4392383"/>
          </a:xfrm>
          <a:custGeom>
            <a:avLst/>
            <a:gdLst/>
            <a:ahLst/>
            <a:cxnLst/>
            <a:rect r="r" b="b" t="t" l="l"/>
            <a:pathLst>
              <a:path h="4392383" w="4349565">
                <a:moveTo>
                  <a:pt x="0" y="0"/>
                </a:moveTo>
                <a:lnTo>
                  <a:pt x="4349565" y="0"/>
                </a:lnTo>
                <a:lnTo>
                  <a:pt x="4349565" y="4392383"/>
                </a:lnTo>
                <a:lnTo>
                  <a:pt x="0" y="439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18084" y="2075571"/>
            <a:ext cx="8787705" cy="5974217"/>
          </a:xfrm>
          <a:custGeom>
            <a:avLst/>
            <a:gdLst/>
            <a:ahLst/>
            <a:cxnLst/>
            <a:rect r="r" b="b" t="t" l="l"/>
            <a:pathLst>
              <a:path h="5974217" w="8787705">
                <a:moveTo>
                  <a:pt x="0" y="0"/>
                </a:moveTo>
                <a:lnTo>
                  <a:pt x="8787705" y="0"/>
                </a:lnTo>
                <a:lnTo>
                  <a:pt x="8787705" y="5974216"/>
                </a:lnTo>
                <a:lnTo>
                  <a:pt x="0" y="597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3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0002" y="872815"/>
            <a:ext cx="8087776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INVESTOR ANALYTICS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77425" y="7901260"/>
            <a:ext cx="8558266" cy="2237213"/>
            <a:chOff x="0" y="0"/>
            <a:chExt cx="3922671" cy="10254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22671" cy="1025424"/>
            </a:xfrm>
            <a:custGeom>
              <a:avLst/>
              <a:gdLst/>
              <a:ahLst/>
              <a:cxnLst/>
              <a:rect r="r" b="b" t="t" l="l"/>
              <a:pathLst>
                <a:path h="1025424" w="3922671">
                  <a:moveTo>
                    <a:pt x="3922671" y="0"/>
                  </a:moveTo>
                  <a:lnTo>
                    <a:pt x="0" y="0"/>
                  </a:lnTo>
                  <a:lnTo>
                    <a:pt x="0" y="837464"/>
                  </a:lnTo>
                  <a:lnTo>
                    <a:pt x="157480" y="837464"/>
                  </a:lnTo>
                  <a:lnTo>
                    <a:pt x="157480" y="1025424"/>
                  </a:lnTo>
                  <a:lnTo>
                    <a:pt x="463550" y="837464"/>
                  </a:lnTo>
                  <a:lnTo>
                    <a:pt x="3922671" y="837464"/>
                  </a:lnTo>
                  <a:lnTo>
                    <a:pt x="3922671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922671" cy="882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2842313" y="7983112"/>
            <a:ext cx="8087776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Insights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5244" y="8373637"/>
            <a:ext cx="8355688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Middle-aged investors contribute largest investment volume.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Metro cities dominate transaction amounts.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B30 participation continues to grow.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58987" y="2511727"/>
            <a:ext cx="8953180" cy="3679716"/>
            <a:chOff x="0" y="0"/>
            <a:chExt cx="2358039" cy="969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8039" cy="969143"/>
            </a:xfrm>
            <a:custGeom>
              <a:avLst/>
              <a:gdLst/>
              <a:ahLst/>
              <a:cxnLst/>
              <a:rect r="r" b="b" t="t" l="l"/>
              <a:pathLst>
                <a:path h="969143" w="2358039">
                  <a:moveTo>
                    <a:pt x="0" y="0"/>
                  </a:moveTo>
                  <a:lnTo>
                    <a:pt x="2358039" y="0"/>
                  </a:lnTo>
                  <a:lnTo>
                    <a:pt x="2358039" y="969143"/>
                  </a:lnTo>
                  <a:lnTo>
                    <a:pt x="0" y="969143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58039" cy="1016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249466" y="249432"/>
            <a:ext cx="9637884" cy="1773322"/>
            <a:chOff x="0" y="0"/>
            <a:chExt cx="441751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7513" cy="812800"/>
            </a:xfrm>
            <a:custGeom>
              <a:avLst/>
              <a:gdLst/>
              <a:ahLst/>
              <a:cxnLst/>
              <a:rect r="r" b="b" t="t" l="l"/>
              <a:pathLst>
                <a:path h="812800" w="4417513">
                  <a:moveTo>
                    <a:pt x="441751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417513" y="624840"/>
                  </a:lnTo>
                  <a:lnTo>
                    <a:pt x="4417513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17513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35086" y="492324"/>
            <a:ext cx="9501627" cy="1733059"/>
            <a:chOff x="0" y="0"/>
            <a:chExt cx="4355059" cy="794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55059" cy="794346"/>
            </a:xfrm>
            <a:custGeom>
              <a:avLst/>
              <a:gdLst/>
              <a:ahLst/>
              <a:cxnLst/>
              <a:rect r="r" b="b" t="t" l="l"/>
              <a:pathLst>
                <a:path h="794346" w="4355059">
                  <a:moveTo>
                    <a:pt x="4355059" y="0"/>
                  </a:moveTo>
                  <a:lnTo>
                    <a:pt x="0" y="0"/>
                  </a:lnTo>
                  <a:lnTo>
                    <a:pt x="0" y="606386"/>
                  </a:lnTo>
                  <a:lnTo>
                    <a:pt x="157480" y="606386"/>
                  </a:lnTo>
                  <a:lnTo>
                    <a:pt x="157480" y="794346"/>
                  </a:lnTo>
                  <a:lnTo>
                    <a:pt x="463550" y="606386"/>
                  </a:lnTo>
                  <a:lnTo>
                    <a:pt x="4355059" y="606386"/>
                  </a:lnTo>
                  <a:lnTo>
                    <a:pt x="4355059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55059" cy="65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953108" y="6677218"/>
          <a:ext cx="16230600" cy="2951018"/>
        </p:xfrm>
        <a:graphic>
          <a:graphicData uri="http://schemas.openxmlformats.org/presentationml/2006/ole">
            <p:oleObj imgW="19469100" imgH="61976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484478" y="2781249"/>
            <a:ext cx="634643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METRICS CALCULATED: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12498" y="3442006"/>
            <a:ext cx="4827372" cy="274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CAGR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Sharpe Ratio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Sortino Ratio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Alpha &amp; Beta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Maximum Drawdown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35086" y="728156"/>
            <a:ext cx="9052264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ANALYTICS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534857" y="297057"/>
            <a:ext cx="10839671" cy="1773322"/>
            <a:chOff x="0" y="0"/>
            <a:chExt cx="496835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68351" cy="812800"/>
            </a:xfrm>
            <a:custGeom>
              <a:avLst/>
              <a:gdLst/>
              <a:ahLst/>
              <a:cxnLst/>
              <a:rect r="r" b="b" t="t" l="l"/>
              <a:pathLst>
                <a:path h="812800" w="4968351">
                  <a:moveTo>
                    <a:pt x="496835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68351" y="624840"/>
                  </a:lnTo>
                  <a:lnTo>
                    <a:pt x="496835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96835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37694" y="481284"/>
            <a:ext cx="10719329" cy="1773322"/>
            <a:chOff x="0" y="0"/>
            <a:chExt cx="491319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13192" cy="812800"/>
            </a:xfrm>
            <a:custGeom>
              <a:avLst/>
              <a:gdLst/>
              <a:ahLst/>
              <a:cxnLst/>
              <a:rect r="r" b="b" t="t" l="l"/>
              <a:pathLst>
                <a:path h="812800" w="4913192">
                  <a:moveTo>
                    <a:pt x="491319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13192" y="624840"/>
                  </a:lnTo>
                  <a:lnTo>
                    <a:pt x="491319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1319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178176" y="2920476"/>
            <a:ext cx="6337066" cy="1336545"/>
          </a:xfrm>
          <a:custGeom>
            <a:avLst/>
            <a:gdLst/>
            <a:ahLst/>
            <a:cxnLst/>
            <a:rect r="r" b="b" t="t" l="l"/>
            <a:pathLst>
              <a:path h="1336545" w="6337066">
                <a:moveTo>
                  <a:pt x="0" y="0"/>
                </a:moveTo>
                <a:lnTo>
                  <a:pt x="6337066" y="0"/>
                </a:lnTo>
                <a:lnTo>
                  <a:pt x="6337066" y="1336545"/>
                </a:lnTo>
                <a:lnTo>
                  <a:pt x="0" y="1336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95701" y="4257021"/>
            <a:ext cx="12361322" cy="6180661"/>
          </a:xfrm>
          <a:custGeom>
            <a:avLst/>
            <a:gdLst/>
            <a:ahLst/>
            <a:cxnLst/>
            <a:rect r="r" b="b" t="t" l="l"/>
            <a:pathLst>
              <a:path h="6180661" w="12361322">
                <a:moveTo>
                  <a:pt x="0" y="0"/>
                </a:moveTo>
                <a:lnTo>
                  <a:pt x="12361321" y="0"/>
                </a:lnTo>
                <a:lnTo>
                  <a:pt x="12361321" y="6180661"/>
                </a:lnTo>
                <a:lnTo>
                  <a:pt x="0" y="61806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34857" y="2444206"/>
            <a:ext cx="5328438" cy="21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Risk metrics: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Historical VaR(95%)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Conditional VaR(CVaR)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Rolling 90-Day Sharpe  ratio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18968" y="757378"/>
            <a:ext cx="98103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ADVANCED RISK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84608" y="3036400"/>
            <a:ext cx="6337066" cy="53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Example result: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78176" y="3509362"/>
            <a:ext cx="6337066" cy="53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Fund 101207: VaR = -2.60% | CVaR = -3.25%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3378578" y="-22548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4760333" y="-11093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87257" y="449457"/>
            <a:ext cx="10839671" cy="1773322"/>
            <a:chOff x="0" y="0"/>
            <a:chExt cx="496835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8351" cy="812800"/>
            </a:xfrm>
            <a:custGeom>
              <a:avLst/>
              <a:gdLst/>
              <a:ahLst/>
              <a:cxnLst/>
              <a:rect r="r" b="b" t="t" l="l"/>
              <a:pathLst>
                <a:path h="812800" w="4968351">
                  <a:moveTo>
                    <a:pt x="4968351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68351" y="624840"/>
                  </a:lnTo>
                  <a:lnTo>
                    <a:pt x="496835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68351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90094" y="633684"/>
            <a:ext cx="10719329" cy="1773322"/>
            <a:chOff x="0" y="0"/>
            <a:chExt cx="491319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3192" cy="812800"/>
            </a:xfrm>
            <a:custGeom>
              <a:avLst/>
              <a:gdLst/>
              <a:ahLst/>
              <a:cxnLst/>
              <a:rect r="r" b="b" t="t" l="l"/>
              <a:pathLst>
                <a:path h="812800" w="4913192">
                  <a:moveTo>
                    <a:pt x="4913192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13192" y="624840"/>
                  </a:lnTo>
                  <a:lnTo>
                    <a:pt x="491319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13192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32467" y="2569563"/>
            <a:ext cx="11761419" cy="2618190"/>
            <a:chOff x="0" y="0"/>
            <a:chExt cx="3097658" cy="6895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97658" cy="689564"/>
            </a:xfrm>
            <a:custGeom>
              <a:avLst/>
              <a:gdLst/>
              <a:ahLst/>
              <a:cxnLst/>
              <a:rect r="r" b="b" t="t" l="l"/>
              <a:pathLst>
                <a:path h="689564" w="3097658">
                  <a:moveTo>
                    <a:pt x="0" y="0"/>
                  </a:moveTo>
                  <a:lnTo>
                    <a:pt x="3097658" y="0"/>
                  </a:lnTo>
                  <a:lnTo>
                    <a:pt x="3097658" y="689564"/>
                  </a:lnTo>
                  <a:lnTo>
                    <a:pt x="0" y="689564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3097658" cy="76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</a:p>
            <a:p>
              <a:pPr algn="ctr">
                <a:lnSpc>
                  <a:spcPts val="4619"/>
                </a:lnSpc>
              </a:pPr>
            </a:p>
            <a:p>
              <a:pPr algn="ctr">
                <a:lnSpc>
                  <a:spcPts val="4619"/>
                </a:lnSpc>
              </a:pPr>
            </a:p>
            <a:p>
              <a:pPr algn="ctr">
                <a:lnSpc>
                  <a:spcPts val="461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8161" y="5349678"/>
            <a:ext cx="4893468" cy="5170220"/>
          </a:xfrm>
          <a:custGeom>
            <a:avLst/>
            <a:gdLst/>
            <a:ahLst/>
            <a:cxnLst/>
            <a:rect r="r" b="b" t="t" l="l"/>
            <a:pathLst>
              <a:path h="5170220" w="4893468">
                <a:moveTo>
                  <a:pt x="0" y="0"/>
                </a:moveTo>
                <a:lnTo>
                  <a:pt x="4893469" y="0"/>
                </a:lnTo>
                <a:lnTo>
                  <a:pt x="4893469" y="5170220"/>
                </a:lnTo>
                <a:lnTo>
                  <a:pt x="0" y="5170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35781" y="5349678"/>
            <a:ext cx="4760436" cy="5029663"/>
          </a:xfrm>
          <a:custGeom>
            <a:avLst/>
            <a:gdLst/>
            <a:ahLst/>
            <a:cxnLst/>
            <a:rect r="r" b="b" t="t" l="l"/>
            <a:pathLst>
              <a:path h="5029663" w="4760436">
                <a:moveTo>
                  <a:pt x="0" y="0"/>
                </a:moveTo>
                <a:lnTo>
                  <a:pt x="4760436" y="0"/>
                </a:lnTo>
                <a:lnTo>
                  <a:pt x="4760436" y="5029664"/>
                </a:lnTo>
                <a:lnTo>
                  <a:pt x="0" y="5029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73205" y="5554912"/>
            <a:ext cx="6707447" cy="4367106"/>
          </a:xfrm>
          <a:custGeom>
            <a:avLst/>
            <a:gdLst/>
            <a:ahLst/>
            <a:cxnLst/>
            <a:rect r="r" b="b" t="t" l="l"/>
            <a:pathLst>
              <a:path h="4367106" w="6707447">
                <a:moveTo>
                  <a:pt x="0" y="0"/>
                </a:moveTo>
                <a:lnTo>
                  <a:pt x="6707447" y="0"/>
                </a:lnTo>
                <a:lnTo>
                  <a:pt x="6707447" y="4367106"/>
                </a:lnTo>
                <a:lnTo>
                  <a:pt x="0" y="4367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81556" y="961811"/>
            <a:ext cx="98103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COHORT &amp; SIP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5302" y="2913517"/>
            <a:ext cx="634643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INVESTOR COHORTS: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59358" y="3473618"/>
            <a:ext cx="5954723" cy="53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Grouped by first transaction year.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59358" y="4342746"/>
            <a:ext cx="10467570" cy="53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Finding: 2025 cohort invested more on average than 2024 cohort.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3275799" y="249432"/>
            <a:ext cx="11332134" cy="1773322"/>
            <a:chOff x="0" y="0"/>
            <a:chExt cx="519407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4070" cy="812800"/>
            </a:xfrm>
            <a:custGeom>
              <a:avLst/>
              <a:gdLst/>
              <a:ahLst/>
              <a:cxnLst/>
              <a:rect r="r" b="b" t="t" l="l"/>
              <a:pathLst>
                <a:path h="812800" w="5194070">
                  <a:moveTo>
                    <a:pt x="519407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194070" y="624840"/>
                  </a:lnTo>
                  <a:lnTo>
                    <a:pt x="519407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19407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29156" y="492324"/>
            <a:ext cx="11057890" cy="1733059"/>
            <a:chOff x="0" y="0"/>
            <a:chExt cx="5068371" cy="794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8371" cy="794346"/>
            </a:xfrm>
            <a:custGeom>
              <a:avLst/>
              <a:gdLst/>
              <a:ahLst/>
              <a:cxnLst/>
              <a:rect r="r" b="b" t="t" l="l"/>
              <a:pathLst>
                <a:path h="794346" w="5068371">
                  <a:moveTo>
                    <a:pt x="5068371" y="0"/>
                  </a:moveTo>
                  <a:lnTo>
                    <a:pt x="0" y="0"/>
                  </a:lnTo>
                  <a:lnTo>
                    <a:pt x="0" y="606386"/>
                  </a:lnTo>
                  <a:lnTo>
                    <a:pt x="157480" y="606386"/>
                  </a:lnTo>
                  <a:lnTo>
                    <a:pt x="157480" y="794346"/>
                  </a:lnTo>
                  <a:lnTo>
                    <a:pt x="463550" y="606386"/>
                  </a:lnTo>
                  <a:lnTo>
                    <a:pt x="5068371" y="606386"/>
                  </a:lnTo>
                  <a:lnTo>
                    <a:pt x="5068371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068371" cy="65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1322565" y="6374062"/>
          <a:ext cx="16230600" cy="4809067"/>
        </p:xfrm>
        <a:graphic>
          <a:graphicData uri="http://schemas.openxmlformats.org/presentationml/2006/ole">
            <p:oleObj imgW="19469100" imgH="8051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829156" y="2309396"/>
            <a:ext cx="11992435" cy="21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Recommendation Engine</a:t>
            </a:r>
          </a:p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Input</a:t>
            </a: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: Low / Moderate / High risk appetite</a:t>
            </a:r>
          </a:p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Output</a:t>
            </a: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: Top 3 funds by Sharpe Ratio within the selected risk category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66901" y="654393"/>
            <a:ext cx="11549930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 ENGINE &amp; HHI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1323" y="4439708"/>
            <a:ext cx="11992435" cy="21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Portfolio Concentration</a:t>
            </a:r>
          </a:p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HHI (Herfindahl-Hirschman Index) </a:t>
            </a: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measures sector concentration.</a:t>
            </a:r>
          </a:p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Fund 119092</a:t>
            </a: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recorded the highest concentration score.</a:t>
            </a:r>
          </a:p>
          <a:p>
            <a:pPr algn="l">
              <a:lnSpc>
                <a:spcPts val="438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156" y="2511727"/>
            <a:ext cx="8953180" cy="3256382"/>
            <a:chOff x="0" y="0"/>
            <a:chExt cx="2358039" cy="857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8039" cy="857648"/>
            </a:xfrm>
            <a:custGeom>
              <a:avLst/>
              <a:gdLst/>
              <a:ahLst/>
              <a:cxnLst/>
              <a:rect r="r" b="b" t="t" l="l"/>
              <a:pathLst>
                <a:path h="857648" w="2358039">
                  <a:moveTo>
                    <a:pt x="0" y="0"/>
                  </a:moveTo>
                  <a:lnTo>
                    <a:pt x="2358039" y="0"/>
                  </a:lnTo>
                  <a:lnTo>
                    <a:pt x="2358039" y="857648"/>
                  </a:lnTo>
                  <a:lnTo>
                    <a:pt x="0" y="857648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58039" cy="90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249466" y="249432"/>
            <a:ext cx="9637884" cy="1773322"/>
            <a:chOff x="0" y="0"/>
            <a:chExt cx="441751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7513" cy="812800"/>
            </a:xfrm>
            <a:custGeom>
              <a:avLst/>
              <a:gdLst/>
              <a:ahLst/>
              <a:cxnLst/>
              <a:rect r="r" b="b" t="t" l="l"/>
              <a:pathLst>
                <a:path h="812800" w="4417513">
                  <a:moveTo>
                    <a:pt x="441751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417513" y="624840"/>
                  </a:lnTo>
                  <a:lnTo>
                    <a:pt x="4417513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17513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35086" y="492324"/>
            <a:ext cx="9501627" cy="1733059"/>
            <a:chOff x="0" y="0"/>
            <a:chExt cx="4355059" cy="794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55059" cy="794346"/>
            </a:xfrm>
            <a:custGeom>
              <a:avLst/>
              <a:gdLst/>
              <a:ahLst/>
              <a:cxnLst/>
              <a:rect r="r" b="b" t="t" l="l"/>
              <a:pathLst>
                <a:path h="794346" w="4355059">
                  <a:moveTo>
                    <a:pt x="4355059" y="0"/>
                  </a:moveTo>
                  <a:lnTo>
                    <a:pt x="0" y="0"/>
                  </a:lnTo>
                  <a:lnTo>
                    <a:pt x="0" y="606386"/>
                  </a:lnTo>
                  <a:lnTo>
                    <a:pt x="157480" y="606386"/>
                  </a:lnTo>
                  <a:lnTo>
                    <a:pt x="157480" y="794346"/>
                  </a:lnTo>
                  <a:lnTo>
                    <a:pt x="463550" y="606386"/>
                  </a:lnTo>
                  <a:lnTo>
                    <a:pt x="4355059" y="606386"/>
                  </a:lnTo>
                  <a:lnTo>
                    <a:pt x="4355059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55059" cy="65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3881" y="5768109"/>
            <a:ext cx="7811170" cy="4168686"/>
          </a:xfrm>
          <a:custGeom>
            <a:avLst/>
            <a:gdLst/>
            <a:ahLst/>
            <a:cxnLst/>
            <a:rect r="r" b="b" t="t" l="l"/>
            <a:pathLst>
              <a:path h="4168686" w="7811170">
                <a:moveTo>
                  <a:pt x="0" y="0"/>
                </a:moveTo>
                <a:lnTo>
                  <a:pt x="7811170" y="0"/>
                </a:lnTo>
                <a:lnTo>
                  <a:pt x="7811170" y="4168686"/>
                </a:lnTo>
                <a:lnTo>
                  <a:pt x="0" y="4168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39870" y="5922343"/>
            <a:ext cx="6916038" cy="4014452"/>
          </a:xfrm>
          <a:custGeom>
            <a:avLst/>
            <a:gdLst/>
            <a:ahLst/>
            <a:cxnLst/>
            <a:rect r="r" b="b" t="t" l="l"/>
            <a:pathLst>
              <a:path h="4014452" w="6916038">
                <a:moveTo>
                  <a:pt x="0" y="0"/>
                </a:moveTo>
                <a:lnTo>
                  <a:pt x="6916037" y="0"/>
                </a:lnTo>
                <a:lnTo>
                  <a:pt x="6916037" y="4014452"/>
                </a:lnTo>
                <a:lnTo>
                  <a:pt x="0" y="4014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52968" y="2823582"/>
            <a:ext cx="634643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 PAGES: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12498" y="3442006"/>
            <a:ext cx="4827372" cy="21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AutoNum type="arabicPeriod" startAt="1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Industry Overview</a:t>
            </a:r>
          </a:p>
          <a:p>
            <a:pPr algn="l" marL="675648" indent="-337824" lvl="1">
              <a:lnSpc>
                <a:spcPts val="4381"/>
              </a:lnSpc>
              <a:buAutoNum type="arabicPeriod" startAt="1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Fund Performance</a:t>
            </a:r>
          </a:p>
          <a:p>
            <a:pPr algn="l" marL="675648" indent="-337824" lvl="1">
              <a:lnSpc>
                <a:spcPts val="4381"/>
              </a:lnSpc>
              <a:buAutoNum type="arabicPeriod" startAt="1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Investor Analytics</a:t>
            </a:r>
          </a:p>
          <a:p>
            <a:pPr algn="l" marL="675648" indent="-337824" lvl="1">
              <a:lnSpc>
                <a:spcPts val="4381"/>
              </a:lnSpc>
              <a:buAutoNum type="arabicPeriod" startAt="1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SIP &amp; market trends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17868" y="761786"/>
            <a:ext cx="9052264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POWER BI DASHBOARD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829156" y="297057"/>
            <a:ext cx="10778777" cy="1773322"/>
            <a:chOff x="0" y="0"/>
            <a:chExt cx="494044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440" cy="812800"/>
            </a:xfrm>
            <a:custGeom>
              <a:avLst/>
              <a:gdLst/>
              <a:ahLst/>
              <a:cxnLst/>
              <a:rect r="r" b="b" t="t" l="l"/>
              <a:pathLst>
                <a:path h="812800" w="4940440">
                  <a:moveTo>
                    <a:pt x="494044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40440" y="624840"/>
                  </a:lnTo>
                  <a:lnTo>
                    <a:pt x="494044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94044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95250" y="493701"/>
            <a:ext cx="10756624" cy="1773322"/>
            <a:chOff x="0" y="0"/>
            <a:chExt cx="493028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30286" cy="812800"/>
            </a:xfrm>
            <a:custGeom>
              <a:avLst/>
              <a:gdLst/>
              <a:ahLst/>
              <a:cxnLst/>
              <a:rect r="r" b="b" t="t" l="l"/>
              <a:pathLst>
                <a:path h="812800" w="4930286">
                  <a:moveTo>
                    <a:pt x="4930286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4930286" y="624840"/>
                  </a:lnTo>
                  <a:lnTo>
                    <a:pt x="4930286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3028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157275" y="809411"/>
            <a:ext cx="10599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29156" y="2642123"/>
            <a:ext cx="11981705" cy="274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Built an end-to-end mutual fund analytics solution.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Generated insights into fund performance and investor behavior.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Developed risk analytics and recommendation models.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Created an interactive Power BI dashboard.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582709" y="6821544"/>
            <a:ext cx="11981705" cy="274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Real-time NAV integration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Machine learning recommendations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SIP churn prediction</a:t>
            </a:r>
          </a:p>
          <a:p>
            <a:pPr algn="l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Cloud dashboard deployment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680067" y="6096654"/>
            <a:ext cx="634643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ENHANCEMENTS: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751838" y="4153209"/>
            <a:ext cx="8784324" cy="126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2"/>
              </a:lnSpc>
              <a:spcBef>
                <a:spcPct val="0"/>
              </a:spcBef>
            </a:pPr>
            <a:r>
              <a:rPr lang="en-US" b="true" sz="8344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DAHMRp1n4I0</dc:identifier>
  <dcterms:modified xsi:type="dcterms:W3CDTF">2011-08-01T06:04:30Z</dcterms:modified>
  <cp:revision>1</cp:revision>
  <dc:title>Blue and White Minimalist Project Presentation</dc:title>
</cp:coreProperties>
</file>